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2" r:id="rId13"/>
    <p:sldId id="266" r:id="rId14"/>
    <p:sldId id="267" r:id="rId15"/>
    <p:sldId id="268" r:id="rId16"/>
    <p:sldId id="269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8758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77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3387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83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6236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572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</a:t>
            </a:r>
            <a:endParaRPr lang="en-US" sz="72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28803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Feature Engineering &amp; Flood Prediction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3375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– 2024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502920"/>
            <a:ext cx="2468880" cy="370332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502920"/>
            <a:ext cx="246888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65836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37960" y="868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37960" y="1207008"/>
            <a:ext cx="2057400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2984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37960" y="1508760"/>
            <a:ext cx="2194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 smtClean="0">
                <a:solidFill>
                  <a:schemeClr val="bg1"/>
                </a:solidFill>
              </a:rPr>
              <a:t>Omar  </a:t>
            </a:r>
            <a:r>
              <a:rPr lang="en-US" sz="1300" dirty="0" err="1" smtClean="0">
                <a:solidFill>
                  <a:schemeClr val="bg1"/>
                </a:solidFill>
              </a:rPr>
              <a:t>serhal</a:t>
            </a:r>
            <a:endParaRPr lang="en-US" sz="1300" dirty="0" smtClean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 err="1" smtClean="0">
                <a:solidFill>
                  <a:schemeClr val="bg1"/>
                </a:solidFill>
              </a:rPr>
              <a:t>Ramez</a:t>
            </a:r>
            <a:r>
              <a:rPr lang="en-US" sz="1300" dirty="0" smtClean="0">
                <a:solidFill>
                  <a:schemeClr val="bg1"/>
                </a:solidFill>
              </a:rPr>
              <a:t> </a:t>
            </a:r>
            <a:r>
              <a:rPr lang="en-US" sz="1300" dirty="0" err="1" smtClean="0">
                <a:solidFill>
                  <a:schemeClr val="bg1"/>
                </a:solidFill>
              </a:rPr>
              <a:t>hamad</a:t>
            </a:r>
            <a:endParaRPr lang="en-US" sz="1300" dirty="0" smtClean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 err="1" smtClean="0">
                <a:solidFill>
                  <a:schemeClr val="bg1"/>
                </a:solidFill>
              </a:rPr>
              <a:t>Hayam</a:t>
            </a:r>
            <a:r>
              <a:rPr lang="en-US" sz="1300" dirty="0" smtClean="0">
                <a:solidFill>
                  <a:schemeClr val="bg1"/>
                </a:solidFill>
              </a:rPr>
              <a:t> </a:t>
            </a:r>
            <a:r>
              <a:rPr lang="en-US" sz="1300" dirty="0" err="1" smtClean="0">
                <a:solidFill>
                  <a:schemeClr val="bg1"/>
                </a:solidFill>
              </a:rPr>
              <a:t>abd</a:t>
            </a:r>
            <a:r>
              <a:rPr lang="en-US" sz="1300" dirty="0" smtClean="0">
                <a:solidFill>
                  <a:schemeClr val="bg1"/>
                </a:solidFill>
              </a:rPr>
              <a:t> al </a:t>
            </a:r>
            <a:r>
              <a:rPr lang="en-US" sz="1300" dirty="0" err="1" smtClean="0">
                <a:solidFill>
                  <a:schemeClr val="bg1"/>
                </a:solidFill>
              </a:rPr>
              <a:t>latif</a:t>
            </a:r>
            <a:endParaRPr lang="en-US" sz="1300" dirty="0" smtClean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37960" y="2377440"/>
            <a:ext cx="2057400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4688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37960" y="2679192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37960" y="3566160"/>
            <a:ext cx="2057400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657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 ·  Open-Meteo  ·  NLDI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681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Prediction  ·  Machine Learning Project  ·  April 2026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1/14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64008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Pipeline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841248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2/14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" y="1115568"/>
            <a:ext cx="2697480" cy="278892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115568"/>
            <a:ext cx="54864" cy="2788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22529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Daily Values API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2064" y="1536192"/>
            <a:ext cx="2423160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581912"/>
            <a:ext cx="2377440" cy="2267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Water Services (daily)</a:t>
            </a:r>
            <a:endParaRPr lang="en-US" sz="13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parameters per station</a:t>
            </a:r>
            <a:endParaRPr lang="en-US" sz="13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Discharge, gage height, temp</a:t>
            </a:r>
            <a:endParaRPr lang="en-US" sz="13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time series — 2014–2024</a:t>
            </a:r>
            <a:endParaRPr lang="en-US" sz="13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Named: usgs_{code}_{description}</a:t>
            </a:r>
            <a:endParaRPr lang="en-US" sz="1300" b="1" dirty="0"/>
          </a:p>
        </p:txBody>
      </p:sp>
      <p:sp>
        <p:nvSpPr>
          <p:cNvPr id="12" name="Shape 10"/>
          <p:cNvSpPr/>
          <p:nvPr/>
        </p:nvSpPr>
        <p:spPr>
          <a:xfrm>
            <a:off x="3182112" y="1115568"/>
            <a:ext cx="2697480" cy="278892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112" y="1115568"/>
            <a:ext cx="54864" cy="2788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6704" y="122529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Weather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46704" y="1536192"/>
            <a:ext cx="2423160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581912"/>
            <a:ext cx="2377440" cy="2267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daily weather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by river lat / lon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variables: rain, temp, ET₀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cached to disk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Sleeps 4s between requests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16752" y="1115568"/>
            <a:ext cx="2697480" cy="278892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16752" y="1115568"/>
            <a:ext cx="54864" cy="27889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1344" y="122529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NLDI &amp; Metadata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81344" y="1536192"/>
            <a:ext cx="2423160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1581912"/>
            <a:ext cx="2377440" cy="2267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Watershed characteristics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Drainage area, elevation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Mainstem river length (km)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Width, depth, velocity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static per river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" y="4133088"/>
            <a:ext cx="160020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4133088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API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947672" y="4343400"/>
            <a:ext cx="13716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84832" y="4133088"/>
            <a:ext cx="160020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84832" y="4133088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Merge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85032" y="4343400"/>
            <a:ext cx="13716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22192" y="4133088"/>
            <a:ext cx="160020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22192" y="4133088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22392" y="4343400"/>
            <a:ext cx="13716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59552" y="4133088"/>
            <a:ext cx="160020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59552" y="4133088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NLDI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159752" y="4343400"/>
            <a:ext cx="13716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96912" y="4133088"/>
            <a:ext cx="1600200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96912" y="4133088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7472" y="462686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CSVs → 31 no-rain removed → 16 high-missing removed → 18 rivers kept for modeling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64008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841248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3/14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" y="1115568"/>
            <a:ext cx="2715768" cy="171907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115568"/>
            <a:ext cx="54864" cy="17190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225296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Discovery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2064" y="1536192"/>
            <a:ext cx="2441448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618488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folders for 8-digit USGS site IDs. Prioritizes 12 key rivers. Names from existing CSVs.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115568"/>
            <a:ext cx="2715768" cy="171907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115568"/>
            <a:ext cx="54864" cy="17190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225296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Site Metadata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64992" y="1536192"/>
            <a:ext cx="2441448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618488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 format. Extracts lat, lon, drainage area, elevation, gage datum. Prefixed site_*.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53328" y="1115568"/>
            <a:ext cx="2715768" cy="171907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53328" y="1115568"/>
            <a:ext cx="54864" cy="171907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225296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Streamflow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1536192"/>
            <a:ext cx="2441448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1618488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parameters per station. Columns: usgs_{code}_{name}. Duplicates → combine_first().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" y="3017520"/>
            <a:ext cx="2715768" cy="171907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3017520"/>
            <a:ext cx="54864" cy="171907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127248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Features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12064" y="3438144"/>
            <a:ext cx="2441448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52044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Open-Meteo vars prefixed weather_*. Matched by lat/lon. Cached. Falls back to NaN.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0" y="3017520"/>
            <a:ext cx="2715768" cy="171907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3017520"/>
            <a:ext cx="54864" cy="17190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3127248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Helpers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364992" y="3438144"/>
            <a:ext cx="2441448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352044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slugify() → safe columns. to_float() → numeric. parse_rdb() → USGS RDB. Retry with backoff.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53328" y="3017520"/>
            <a:ext cx="2715768" cy="171907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53328" y="3017520"/>
            <a:ext cx="54864" cy="17190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3127248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17920" y="3438144"/>
            <a:ext cx="2441448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352044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CSV per river. ~3,652 rows × 50–120 cols. summary.csv tracks rows, columns, missing &amp; status.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45719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9120" y="1776515"/>
            <a:ext cx="8150352" cy="22362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correlation between rainfall and </a:t>
            </a:r>
            <a:r>
              <a:rPr lang="en-US" sz="2600" b="1" dirty="0" smtClean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</a:p>
          <a:p>
            <a:r>
              <a:rPr lang="en-US" sz="2600" b="1" dirty="0" smtClean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 </a:t>
            </a: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 on accumulated rainfall (3–7 days</a:t>
            </a:r>
            <a:r>
              <a:rPr lang="en-US" sz="2600" b="1" dirty="0" smtClean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r>
              <a:rPr lang="en-US" sz="2600" b="1" dirty="0" smtClean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</a:t>
            </a: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shows seasonal </a:t>
            </a:r>
            <a:r>
              <a:rPr lang="en-US" sz="2600" b="1" dirty="0" smtClean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</a:p>
          <a:p>
            <a:r>
              <a:rPr lang="en-US" sz="2600" b="1" dirty="0" smtClean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highly skewed (flood peaks)</a:t>
            </a:r>
            <a:endParaRPr lang="en-US" sz="2600" b="1" dirty="0">
              <a:solidFill>
                <a:srgbClr val="F9FAF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800" dirty="0" smtClean="0"/>
              <a:t>shows </a:t>
            </a:r>
            <a:r>
              <a:rPr lang="en-US" sz="2800" dirty="0"/>
              <a:t>flood patterns</a:t>
            </a:r>
            <a:endParaRPr lang="en-US" sz="2600" dirty="0"/>
          </a:p>
        </p:txBody>
      </p:sp>
      <p:sp>
        <p:nvSpPr>
          <p:cNvPr id="43" name="Text 1"/>
          <p:cNvSpPr/>
          <p:nvPr/>
        </p:nvSpPr>
        <p:spPr>
          <a:xfrm>
            <a:off x="1022722" y="256547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51" name="Text 1"/>
          <p:cNvSpPr/>
          <p:nvPr/>
        </p:nvSpPr>
        <p:spPr>
          <a:xfrm>
            <a:off x="682752" y="4084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 smtClean="0">
                <a:solidFill>
                  <a:schemeClr val="bg1"/>
                </a:solidFill>
              </a:rPr>
              <a:t>EDA</a:t>
            </a:r>
            <a:endParaRPr lang="en-US" sz="2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708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109728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731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4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 Quality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77724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33756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2]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4/14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Data Quality Issues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841248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5/14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" y="1115568"/>
            <a:ext cx="4178808" cy="361188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115568"/>
            <a:ext cx="54864" cy="3611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225296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for ML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2064" y="1536192"/>
            <a:ext cx="3904488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72768"/>
            <a:ext cx="3858768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flow_lag1 … flow_lag7 — discharge each past day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flow_3d_avg, flow_7d_avg, flow_14d_avg (rolling)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rain_lag1–7, rain_3d, rain_7d, rain_14d (sums)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rain_per_area, rain_flow_ratio, rain_spike_7d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flow_diff, flow_acc, flow_short_vs_long (trend)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month_sin/cos, doy_sin/cos (seasonality)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drainage_area_sqmi, elevation_ft, mainstem_km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115568"/>
            <a:ext cx="4178808" cy="361188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115568"/>
            <a:ext cx="54864" cy="36118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225296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 Found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73752" y="1536192"/>
            <a:ext cx="3904488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1572768"/>
            <a:ext cx="3858768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of rows had NO is_flood label — only 48,259 of 285,931 rows usable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only 5.1% of labeled rows are floods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_x / _y bug: weather DataFrame merged twice → columns duplicated. Fixed with combine_first()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column stored as string — required pd.to_datetime()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kept as NaN — not zero-filled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109728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731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4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Results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777240" y="3200400"/>
            <a:ext cx="5486400" cy="0"/>
          </a:xfrm>
          <a:prstGeom prst="line">
            <a:avLst/>
          </a:prstGeom>
          <a:noFill/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33756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3]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6/14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64008" cy="6583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841248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7/14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" y="1170432"/>
            <a:ext cx="8412480" cy="111556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170432"/>
            <a:ext cx="54864" cy="11155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" y="1490472"/>
            <a:ext cx="475488" cy="47548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4904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28016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16276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Is today a flood?  (Binary: 1 / 0)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43000" y="19202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48,259 labeled rows · 18 rivers · 25 features · 5-fold CV · threshold tuned for maximum recall (safety-first).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7472" y="2404872"/>
            <a:ext cx="8412480" cy="111556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404872"/>
            <a:ext cx="54864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" y="2724912"/>
            <a:ext cx="475488" cy="47548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27249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51460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Regressor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28620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Predict daily discharge for next 10 days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3000" y="31546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67,888 rows · 17 rivers · 59 features · direct &amp; recursive · train 2014→2021 / test 2022→2024.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47472" y="3639312"/>
            <a:ext cx="8412480" cy="111556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3639312"/>
            <a:ext cx="54864" cy="11155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" y="3959352"/>
            <a:ext cx="475488" cy="47548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3959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37490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Regressor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3000" y="40965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Predict daily discharge for next 10 days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43000" y="43891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model · 14–21 day lookback · peak-weighted training (×2 q90, ×3 q95) · rain-informed · log1p transform.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64008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— Setup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841248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8/14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" y="1170432"/>
            <a:ext cx="8412480" cy="111556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170432"/>
            <a:ext cx="54864" cy="11155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" y="1490472"/>
            <a:ext cx="475488" cy="47548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4904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26187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&amp; 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16459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— flood (1) vs no flood (0). 48,259 labeled rows, 18 rivers. Only 17% of rows had labels. Class imbalance: 5.1% flood rate.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7472" y="2404872"/>
            <a:ext cx="8412480" cy="111556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404872"/>
            <a:ext cx="54864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" y="2724912"/>
            <a:ext cx="475488" cy="47548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27249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49631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Engineered Features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28803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lags lag1–lag7, rolling 3d/7d/14d, rain lags &amp; sums, rain_per_area, rain_flow_ratio, flow_short_vs_long, dry_streak, seasonal sin/cos, drainage area, elevation.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7472" y="3639312"/>
            <a:ext cx="8412480" cy="111556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639312"/>
            <a:ext cx="54864" cy="11155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" y="3959352"/>
            <a:ext cx="475488" cy="47548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3959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73075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Threshold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4114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 + RandomizedSearchCV (30 candidates). Best: n_estimators=500, max_features=log2, min_samples_leaf=3. Threshold 0.55 — recall ≥ 95% prioritized. Missing a flood = more dangerous than false alarm.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64008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—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841248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9/14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" y="1097280"/>
            <a:ext cx="160020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52144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37160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057400" y="1097280"/>
            <a:ext cx="160020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1152144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137160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95.97%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767328" y="1097280"/>
            <a:ext cx="160020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67328" y="1152144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67328" y="137160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95.03%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477256" y="1097280"/>
            <a:ext cx="160020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77256" y="1152144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77256" y="137160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95.50%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187184" y="1097280"/>
            <a:ext cx="160020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87184" y="1152144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87184" y="137160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99.94%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347472" y="2084832"/>
            <a:ext cx="4206240" cy="26060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2084832"/>
            <a:ext cx="54864" cy="2606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214884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 (threshold = 0.55)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12064" y="2496312"/>
            <a:ext cx="3886200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27632" y="25786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9FAFB"/>
                </a:solidFill>
              </a:rPr>
              <a:t>Actual: No Flood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081528" y="257860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9FAFB"/>
                </a:solidFill>
              </a:rPr>
              <a:t>Actual: Flood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20624" y="2916936"/>
            <a:ext cx="1170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</a:rPr>
              <a:t>Pred: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</a:rPr>
              <a:t>No Flood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627632" y="2907792"/>
            <a:ext cx="1417320" cy="566928"/>
          </a:xfrm>
          <a:prstGeom prst="rect">
            <a:avLst/>
          </a:prstGeom>
          <a:solidFill>
            <a:srgbClr val="064E3B"/>
          </a:solidFill>
          <a:ln w="5080">
            <a:solidFill>
              <a:srgbClr val="3741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27632" y="29077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</a:rPr>
              <a:t>45,707 ✓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081528" y="2907792"/>
            <a:ext cx="1280160" cy="566928"/>
          </a:xfrm>
          <a:prstGeom prst="rect">
            <a:avLst/>
          </a:prstGeom>
          <a:solidFill>
            <a:srgbClr val="451A03"/>
          </a:solidFill>
          <a:ln w="5080">
            <a:solidFill>
              <a:srgbClr val="3741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81528" y="29077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</a:rPr>
              <a:t>122 FN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20624" y="3547872"/>
            <a:ext cx="1170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</a:rPr>
              <a:t>Pred: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</a:rPr>
              <a:t>Flood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627632" y="3538728"/>
            <a:ext cx="1417320" cy="566928"/>
          </a:xfrm>
          <a:prstGeom prst="rect">
            <a:avLst/>
          </a:prstGeom>
          <a:solidFill>
            <a:srgbClr val="451A03"/>
          </a:solidFill>
          <a:ln w="5080">
            <a:solidFill>
              <a:srgbClr val="3741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27632" y="35387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</a:rPr>
              <a:t>98 FP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081528" y="3538728"/>
            <a:ext cx="1280160" cy="566928"/>
          </a:xfrm>
          <a:prstGeom prst="rect">
            <a:avLst/>
          </a:prstGeom>
          <a:solidFill>
            <a:srgbClr val="064E3B"/>
          </a:solidFill>
          <a:ln w="5080">
            <a:solidFill>
              <a:srgbClr val="3741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81528" y="35387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</a:rPr>
              <a:t>2,332 ✓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12064" y="41879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122 real floods missed — high recall achieved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36592" y="2084832"/>
            <a:ext cx="4023360" cy="26060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36592" y="2084832"/>
            <a:ext cx="54864" cy="2606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01184" y="214884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6 Feature Importances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901184" y="2496312"/>
            <a:ext cx="3749040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01184" y="2633472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flow_short_vs_long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858000" y="2697480"/>
            <a:ext cx="1684020" cy="1737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0" y="2633472"/>
            <a:ext cx="411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34D399"/>
                </a:solidFill>
              </a:rPr>
              <a:t>22.1%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901184" y="297180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rain_7d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858000" y="3035808"/>
            <a:ext cx="899160" cy="1737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0" y="2971800"/>
            <a:ext cx="411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59E0B"/>
                </a:solidFill>
              </a:rPr>
              <a:t>11.8%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901184" y="3310128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rain_3d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858000" y="3374136"/>
            <a:ext cx="777240" cy="17373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86800" y="3310128"/>
            <a:ext cx="411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60A5FA"/>
                </a:solidFill>
              </a:rPr>
              <a:t>10.2%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901184" y="3648456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flow_3d_avg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858000" y="3712464"/>
            <a:ext cx="762000" cy="17373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86800" y="3648456"/>
            <a:ext cx="411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A78BFA"/>
                </a:solidFill>
              </a:rPr>
              <a:t>10%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4901184" y="3986784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rain_per_area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858000" y="4050792"/>
            <a:ext cx="601980" cy="17373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86800" y="3986784"/>
            <a:ext cx="411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87171"/>
                </a:solidFill>
              </a:rPr>
              <a:t>7.9%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4901184" y="4325112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rain_14d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858000" y="4389120"/>
            <a:ext cx="541020" cy="1737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86800" y="4325112"/>
            <a:ext cx="411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34D399"/>
                </a:solidFill>
              </a:rPr>
              <a:t>7.1%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— 10-Day Streamflow Forecasting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841248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10/14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" y="1170432"/>
            <a:ext cx="8412480" cy="111556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170432"/>
            <a:ext cx="54864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" y="1490472"/>
            <a:ext cx="475488" cy="47548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4904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26187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Setup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16459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67,888 rows · 17 rivers · 59 features. Time-split: Train 2014→2021 | Valid 2021→2022 | Test 2022→2024. Discharge normalized by drainage area. Top features: current flow, rain sums, ET₀, day-of-year sin/cos.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7472" y="2404872"/>
            <a:ext cx="8412480" cy="111556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404872"/>
            <a:ext cx="54864" cy="11155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" y="2724912"/>
            <a:ext cx="475488" cy="47548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27249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49631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Forecasting — one model per horizon day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28803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separate models, one per day (Day 1 … Day 10). Day 1 = highest accuracy. Degrades smoothly toward Day 10. No error compounding — best for short-horizon flood alerts.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7472" y="3639312"/>
            <a:ext cx="8412480" cy="111556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639312"/>
            <a:ext cx="54864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" y="3959352"/>
            <a:ext cx="475488" cy="47548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3959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73075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Forecasting — error compounds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4114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model. Day 1 prediction fed back as Day 2 input. Error compounds at Day 5+. Rain-informed mode (known future rainfall) significantly improves multi-day accuracy.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dirty="0">
                <a:solidFill>
                  <a:schemeClr val="bg1"/>
                </a:solidFill>
              </a:rPr>
              <a:t>Regression Results Insights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841248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70432"/>
            <a:ext cx="8412480" cy="111556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170432"/>
            <a:ext cx="54864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457" y="1261871"/>
            <a:ext cx="7993743" cy="9660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 err="1" smtClean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r>
              <a:rPr lang="en-US" sz="1500" b="1" dirty="0" smtClean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best for short-term predictions (Day 1–3</a:t>
            </a:r>
            <a:r>
              <a:rPr lang="en-US" sz="1500" b="1" dirty="0" smtClean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 smtClean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</a:t>
            </a: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decreases with longer </a:t>
            </a:r>
            <a:r>
              <a:rPr lang="en-US" sz="1500" b="1" dirty="0" smtClean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 smtClean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</a:t>
            </a: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temporal </a:t>
            </a:r>
            <a:r>
              <a:rPr lang="en-US" sz="1500" b="1" dirty="0" smtClean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 smtClean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</a:t>
            </a: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leads to error </a:t>
            </a:r>
            <a:r>
              <a:rPr lang="en-US" sz="1500" b="1" dirty="0" smtClean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accumulation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7353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64008" cy="6583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— 10-Day Streamflow Forecasting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841248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11/14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" y="1170432"/>
            <a:ext cx="8412480" cy="111556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170432"/>
            <a:ext cx="54864" cy="11155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" y="1490472"/>
            <a:ext cx="475488" cy="47548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4904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26187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Setup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16459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14–21 day lookback window · 59 features per timestep · same time split as LightGBM. log1p transform on discharge — essential for stable training on skewed flood peaks.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7472" y="2404872"/>
            <a:ext cx="8412480" cy="111556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404872"/>
            <a:ext cx="54864" cy="11155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" y="2724912"/>
            <a:ext cx="475488" cy="47548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27249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49631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28803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Peak-weighted training: ×2 for q90, ×3 for q95 events. LSTM focused on high-flow events — peak predictions improved significantly. Rain-informed recursive outperformed blind recursion for Day 5–10.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7472" y="3639312"/>
            <a:ext cx="8412480" cy="111556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639312"/>
            <a:ext cx="54864" cy="11155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" y="3959352"/>
            <a:ext cx="475488" cy="47548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3959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73075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didn't work — Problems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4114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error compounds badly after Day 7 — no better than LightGBM at long horizons. Very slow: 40ms/step × 80 epochs. Without log1p: unstable loss and poor peak prediction.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64008" cy="6583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 &amp; Model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841248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12/14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" y="1097280"/>
            <a:ext cx="1325880" cy="804672"/>
          </a:xfrm>
          <a:prstGeom prst="rect">
            <a:avLst/>
          </a:prstGeom>
          <a:solidFill>
            <a:srgbClr val="1F293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52144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" y="13716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783080" y="1097280"/>
            <a:ext cx="1325880" cy="804672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1152144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83080" y="13716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95.97%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18688" y="1097280"/>
            <a:ext cx="1325880" cy="804672"/>
          </a:xfrm>
          <a:prstGeom prst="rect">
            <a:avLst/>
          </a:prstGeom>
          <a:solidFill>
            <a:srgbClr val="1F2937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1152144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18688" y="13716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95.03%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654296" y="1097280"/>
            <a:ext cx="1325880" cy="804672"/>
          </a:xfrm>
          <a:prstGeom prst="rect">
            <a:avLst/>
          </a:prstGeom>
          <a:solidFill>
            <a:srgbClr val="1F293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4296" y="1152144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54296" y="13716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95.50%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089904" y="1097280"/>
            <a:ext cx="1325880" cy="804672"/>
          </a:xfrm>
          <a:prstGeom prst="rect">
            <a:avLst/>
          </a:prstGeom>
          <a:solidFill>
            <a:srgbClr val="1F293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9904" y="1152144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89904" y="13716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99.94%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525512" y="1097280"/>
            <a:ext cx="1325880" cy="804672"/>
          </a:xfrm>
          <a:prstGeom prst="rect">
            <a:avLst/>
          </a:prstGeom>
          <a:solidFill>
            <a:srgbClr val="1F2937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25512" y="1152144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25512" y="13716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47472" y="2048256"/>
            <a:ext cx="4233672" cy="2651759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2066544"/>
            <a:ext cx="54864" cy="2633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" y="2126189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Regression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2423160"/>
            <a:ext cx="3858768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2523744"/>
            <a:ext cx="385876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Direct: most accurate at Day 1, degrades smoothly to Day 10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+ future rain: best multi-day strategy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LSTM — trains in minutes not hours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flow, rain sums, ET₀, </a:t>
            </a:r>
            <a:r>
              <a:rPr lang="en-US" sz="1250" dirty="0" smtClean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day-of-year</a:t>
            </a:r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400" dirty="0"/>
              <a:t>Threshold lowered to 0.3 → Recall &gt; 0.99Safety-critical decision: missing a flood is more dangerous than false alarm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09160" y="2066544"/>
            <a:ext cx="4178808" cy="263347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2066544"/>
            <a:ext cx="54864" cy="263347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2121408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Regression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73752" y="2468880"/>
            <a:ext cx="3858768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523744"/>
            <a:ext cx="385876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at Day 1–5 — 14–21 day lookback gives more context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Peak-weighting improved flood event accuracy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compounds at Day 7+ — similar to LightGBM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transform was critical for stable training</a:t>
            </a:r>
            <a:endParaRPr lang="en-US" sz="1250" dirty="0"/>
          </a:p>
        </p:txBody>
      </p:sp>
      <p:sp>
        <p:nvSpPr>
          <p:cNvPr id="35" name="Text 25"/>
          <p:cNvSpPr/>
          <p:nvPr/>
        </p:nvSpPr>
        <p:spPr>
          <a:xfrm>
            <a:off x="-1028700" y="-1197863"/>
            <a:ext cx="491032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0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7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Threshold lowered to 0.3 → Recall &gt; 0.99</a:t>
            </a:r>
            <a:b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Safety-critical decision: missing a flood is more dangerous than false alarm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64008" cy="6583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Problems We Faced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841248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13/14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" y="1170432"/>
            <a:ext cx="8412480" cy="84124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170432"/>
            <a:ext cx="54864" cy="84124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" y="1353312"/>
            <a:ext cx="475488" cy="47548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3533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22529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Missing Labels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1591056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is_flood was NaN for 237,672 of 285,931 rows. Only 48,259 rows usable — RF trained on just 17% of available data.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7472" y="2112264"/>
            <a:ext cx="8412480" cy="84124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112264"/>
            <a:ext cx="54864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" y="2295144"/>
            <a:ext cx="475488" cy="47548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22951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1671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— 5.1% flood rate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532888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accuracy misleading — model predicting 'no flood' always gets 94.9%. Fixed with threshold 0.55 to prioritize recall.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7472" y="3054096"/>
            <a:ext cx="8412480" cy="84124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054096"/>
            <a:ext cx="54864" cy="8412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" y="3236976"/>
            <a:ext cx="475488" cy="47548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32369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1089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Weather Columns (_x / _y)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3474720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DataFrame merged twice in some runs — weather_temp_x and _y appeared. Fixed with combine_first() + assertion before export.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47472" y="3995928"/>
            <a:ext cx="8412480" cy="84124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3995928"/>
            <a:ext cx="54864" cy="8412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" y="4178808"/>
            <a:ext cx="475488" cy="47548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41788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3000" y="40507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Error Compounding &amp; LSTM Training Time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" y="4416552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compounds beyond Day 5–7. LSTM takes hours per run (40ms/step × 80 epochs) — full hyperparameter search was not feasible.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7432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896112"/>
            <a:ext cx="804672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005840"/>
            <a:ext cx="3886200" cy="376732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005840"/>
            <a:ext cx="54864" cy="37673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069848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41832" y="1417320"/>
            <a:ext cx="3611880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481328"/>
            <a:ext cx="3611880" cy="3182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USGS + Open-Meteo + NLDI → 50–120 daily features/river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98% accuracy, 99.94% ROC-AUC, recall-tuned for safety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direct &gt; recursive for Day 5+ forecasting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peak-weighting improved flood event predictions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_x/_y bug; 18 rivers verified via summary.csv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005840"/>
            <a:ext cx="3886200" cy="376732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1005840"/>
            <a:ext cx="54864" cy="37673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02352" y="1069848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02352" y="1417320"/>
            <a:ext cx="3611880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02352" y="1481328"/>
            <a:ext cx="3611880" cy="3182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more rows with is_flood — 83% currently unlabeled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Transformer / Attention for long-range dependencies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LSTM grid search: depth, units, dropout, learning rate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100+ US stations for generalization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flood dashboard with live USGS + 10-day alerts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4709160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14/14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1457</Words>
  <Application>Microsoft Office PowerPoint</Application>
  <PresentationFormat>On-screen Show (16:9)</PresentationFormat>
  <Paragraphs>251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Pc</cp:lastModifiedBy>
  <cp:revision>5</cp:revision>
  <dcterms:created xsi:type="dcterms:W3CDTF">2026-04-26T01:37:44Z</dcterms:created>
  <dcterms:modified xsi:type="dcterms:W3CDTF">2026-04-26T18:42:06Z</dcterms:modified>
</cp:coreProperties>
</file>